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9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9/20/2020</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9/20/2020</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9/20/2020</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9/20/2020</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9/20/2020</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9/20/2020</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9/20/2020</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9/20/2020</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9/20/2020</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9/20/2020</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9/20/2020</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9/20/2020</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en.wikipedia.org/wiki/List_of_postal_codes_of_Canada:_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4EEDA-29BC-4686-8C12-B2FE0BFBD8EE}"/>
              </a:ext>
            </a:extLst>
          </p:cNvPr>
          <p:cNvSpPr>
            <a:spLocks noGrp="1"/>
          </p:cNvSpPr>
          <p:nvPr>
            <p:ph type="ctrTitle"/>
          </p:nvPr>
        </p:nvSpPr>
        <p:spPr/>
        <p:txBody>
          <a:bodyPr>
            <a:normAutofit fontScale="90000"/>
          </a:bodyPr>
          <a:lstStyle/>
          <a:p>
            <a:r>
              <a:rPr lang="en-US" dirty="0"/>
              <a:t>Should I move to Scarborough?</a:t>
            </a:r>
          </a:p>
        </p:txBody>
      </p:sp>
      <p:sp>
        <p:nvSpPr>
          <p:cNvPr id="3" name="Subtitle 2">
            <a:extLst>
              <a:ext uri="{FF2B5EF4-FFF2-40B4-BE49-F238E27FC236}">
                <a16:creationId xmlns:a16="http://schemas.microsoft.com/office/drawing/2014/main" id="{62DC1BE3-8F8D-4931-8CCF-F1B50BAB2C69}"/>
              </a:ext>
            </a:extLst>
          </p:cNvPr>
          <p:cNvSpPr>
            <a:spLocks noGrp="1"/>
          </p:cNvSpPr>
          <p:nvPr>
            <p:ph type="subTitle" idx="1"/>
          </p:nvPr>
        </p:nvSpPr>
        <p:spPr/>
        <p:txBody>
          <a:bodyPr/>
          <a:lstStyle/>
          <a:p>
            <a:r>
              <a:rPr lang="en-US" dirty="0"/>
              <a:t>Final Presentation</a:t>
            </a:r>
          </a:p>
        </p:txBody>
      </p:sp>
    </p:spTree>
    <p:extLst>
      <p:ext uri="{BB962C8B-B14F-4D97-AF65-F5344CB8AC3E}">
        <p14:creationId xmlns:p14="http://schemas.microsoft.com/office/powerpoint/2010/main" val="2277011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3244E-87F3-483C-B503-4CF1E5EDDF89}"/>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526D40F6-3802-42D2-839D-8228757DA225}"/>
              </a:ext>
            </a:extLst>
          </p:cNvPr>
          <p:cNvSpPr>
            <a:spLocks noGrp="1"/>
          </p:cNvSpPr>
          <p:nvPr>
            <p:ph idx="1"/>
          </p:nvPr>
        </p:nvSpPr>
        <p:spPr/>
        <p:txBody>
          <a:bodyPr>
            <a:normAutofit fontScale="77500" lnSpcReduction="20000"/>
          </a:bodyPr>
          <a:lstStyle/>
          <a:p>
            <a:pPr marL="0" marR="0" indent="0" algn="just">
              <a:lnSpc>
                <a:spcPct val="115000"/>
              </a:lnSpc>
              <a:spcBef>
                <a:spcPts val="0"/>
              </a:spcBef>
              <a:spcAft>
                <a:spcPts val="0"/>
              </a:spcAft>
              <a:buNone/>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This project will assist people with exploring better facilities around their neighborhood and making data-driven decisions when selecting from the neighborhoods in Scarborough, Toronto. With COVID-19 causing many people to consider moving from their current neighborhoods, there is a need to ease the level of effort required to research for housing prices and school reputations. This project is meant to provide this capability to those people as they try to assess new neighborhoods by understanding the ease of access to cafes, schools, supermarkets, pharmacies, malls, theatres, hospitals, etc.</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1200"/>
              </a:spcBef>
              <a:spcAft>
                <a:spcPts val="1000"/>
              </a:spcAft>
              <a:buNone/>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Specifically, this project will focus on developing a thorough analysis of features for a people migrating to Scarborough through a comparative analysis between neighborhoods. The features include median housing price, school ratings, crime rates, road connectivity, weather conditions, emergency management facilities, water resources. This will help people gain awareness of the area before investing in moving to a new city/state/country to start a new life.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Problem to be Solved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0"/>
              </a:spcAft>
              <a:buNone/>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primary focus of this project is to research neighborhoods in a new city for people considering moving. This takes into account the social makeup of the neighborhood and connectivity to airports, buses, city centers, markets, and other nearby daily needs.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304800">
              <a:lnSpc>
                <a:spcPts val="1500"/>
              </a:lnSpc>
              <a:spcBef>
                <a:spcPts val="0"/>
              </a:spcBef>
              <a:spcAft>
                <a:spcPts val="0"/>
              </a:spcAft>
              <a:tabLst>
                <a:tab pos="457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Sorted list of houses in terms of housing prices in an ascending or descending order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304800">
              <a:lnSpc>
                <a:spcPts val="1500"/>
              </a:lnSpc>
              <a:spcBef>
                <a:spcPts val="0"/>
              </a:spcBef>
              <a:spcAft>
                <a:spcPts val="0"/>
              </a:spcAft>
              <a:tabLst>
                <a:tab pos="457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Sorted list of schools in terms of location, fees, rating and reviews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79157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28FB0-1A77-4DC5-935D-6F5DC2A9BC7F}"/>
              </a:ext>
            </a:extLst>
          </p:cNvPr>
          <p:cNvSpPr>
            <a:spLocks noGrp="1"/>
          </p:cNvSpPr>
          <p:nvPr>
            <p:ph type="title"/>
          </p:nvPr>
        </p:nvSpPr>
        <p:spPr/>
        <p:txBody>
          <a:bodyPr/>
          <a:lstStyle/>
          <a:p>
            <a:r>
              <a:rPr lang="en-US" dirty="0"/>
              <a:t>Data Source</a:t>
            </a:r>
          </a:p>
        </p:txBody>
      </p:sp>
      <p:sp>
        <p:nvSpPr>
          <p:cNvPr id="3" name="Content Placeholder 2">
            <a:extLst>
              <a:ext uri="{FF2B5EF4-FFF2-40B4-BE49-F238E27FC236}">
                <a16:creationId xmlns:a16="http://schemas.microsoft.com/office/drawing/2014/main" id="{D5B447E0-C93C-4CBB-94C4-B8BABAAB4402}"/>
              </a:ext>
            </a:extLst>
          </p:cNvPr>
          <p:cNvSpPr>
            <a:spLocks noGrp="1"/>
          </p:cNvSpPr>
          <p:nvPr>
            <p:ph idx="1"/>
          </p:nvPr>
        </p:nvSpPr>
        <p:spPr>
          <a:xfrm>
            <a:off x="1435129" y="1885284"/>
            <a:ext cx="4660871" cy="4701045"/>
          </a:xfrm>
        </p:spPr>
        <p:txBody>
          <a:bodyPr>
            <a:normAutofit/>
          </a:bodyPr>
          <a:lstStyle/>
          <a:p>
            <a:pPr marL="0" marR="0" indent="0" algn="just">
              <a:lnSpc>
                <a:spcPct val="115000"/>
              </a:lnSpc>
              <a:spcBef>
                <a:spcPts val="0"/>
              </a:spcBef>
              <a:spcAft>
                <a:spcPts val="0"/>
              </a:spcAft>
              <a:buNone/>
            </a:pPr>
            <a:r>
              <a:rPr lang="en-US"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Data Link: </a:t>
            </a:r>
            <a:r>
              <a:rPr lang="en-US" sz="1400" u="sng" dirty="0">
                <a:solidFill>
                  <a:srgbClr val="0088CC"/>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https://en.wikipedia.org/wiki/List_of_postal_codes_of_Canada:_M</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1200"/>
              </a:spcBef>
              <a:spcAft>
                <a:spcPts val="0"/>
              </a:spcAft>
              <a:buNone/>
            </a:pPr>
            <a:r>
              <a:rPr lang="en-US"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 will use the Scarborough dataset from Wikipedia used in the Week 3 project. Dataset consists of latitude and longitude, zip codes.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0"/>
              </a:spcAft>
              <a:buNone/>
            </a:pPr>
            <a:r>
              <a:rPr lang="en-US" sz="1400" b="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FourSquare</a:t>
            </a:r>
            <a:r>
              <a:rPr lang="en-US" sz="1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API Data</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0"/>
              </a:spcAft>
              <a:buNone/>
            </a:pPr>
            <a:r>
              <a:rPr lang="en-US"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 will need data about different venues in different neighborhoods of that specific borough. In order to gain that information, we will use "Foursquare" locational information. connect to the Foursquare API to gather information about venues inside each and every neighborhood. For each neighborhood, we have chosen the radius to be 100 meters.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884E75E3-B77C-4CD7-8135-EDE3E0C7FE5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90973" y="3148892"/>
            <a:ext cx="4177296" cy="2567346"/>
          </a:xfrm>
          <a:prstGeom prst="rect">
            <a:avLst/>
          </a:prstGeom>
          <a:noFill/>
        </p:spPr>
      </p:pic>
    </p:spTree>
    <p:extLst>
      <p:ext uri="{BB962C8B-B14F-4D97-AF65-F5344CB8AC3E}">
        <p14:creationId xmlns:p14="http://schemas.microsoft.com/office/powerpoint/2010/main" val="297571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9E34B-6E28-4811-BC70-BF2E920A5442}"/>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18F8BFAA-3E0C-4FDA-8164-5D2AA1F16509}"/>
              </a:ext>
            </a:extLst>
          </p:cNvPr>
          <p:cNvSpPr>
            <a:spLocks noGrp="1"/>
          </p:cNvSpPr>
          <p:nvPr>
            <p:ph idx="1"/>
          </p:nvPr>
        </p:nvSpPr>
        <p:spPr>
          <a:xfrm>
            <a:off x="2773598" y="2052116"/>
            <a:ext cx="8100727" cy="3997828"/>
          </a:xfrm>
        </p:spPr>
        <p:txBody>
          <a:bodyPr/>
          <a:lstStyle/>
          <a:p>
            <a:pPr marL="0" marR="0" indent="0">
              <a:lnSpc>
                <a:spcPct val="115000"/>
              </a:lnSpc>
              <a:spcBef>
                <a:spcPts val="0"/>
              </a:spcBef>
              <a:spcAft>
                <a:spcPts val="68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 order to allow users to compare neighborhoods, we will segment and group them into clusters to find similar neighborhoods and allow a more apples to apples comparison. Doing this will require us to cluster data using a form of unsupervised machine learning; k-means clustering algorithm.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Bef>
                <a:spcPts val="0"/>
              </a:spcBef>
              <a:spcAft>
                <a:spcPts val="68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First, we will find the most commonly visited venues in each neighborhood using the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FourSquare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API. Then we will use k-means clustering to cluster neighborhoods into three different clusters. However, due to http request limitations the number of places per neighborhood parameter would be set to 100 and the radius parameter would be set to 500, in order to keep from inferring any costs. This can be modified later to account for investor funding, ad revenue, and/or public/municipal grants.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431619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09AE8-4105-482A-8652-4C54F878FCAE}"/>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E2520F1D-BADE-4122-8283-951D20700768}"/>
              </a:ext>
            </a:extLst>
          </p:cNvPr>
          <p:cNvSpPr>
            <a:spLocks noGrp="1"/>
          </p:cNvSpPr>
          <p:nvPr>
            <p:ph idx="1"/>
          </p:nvPr>
        </p:nvSpPr>
        <p:spPr>
          <a:xfrm>
            <a:off x="2773599" y="2052116"/>
            <a:ext cx="3514659" cy="578542"/>
          </a:xfrm>
        </p:spPr>
        <p:txBody>
          <a:bodyPr/>
          <a:lstStyle/>
          <a:p>
            <a:pPr marL="0" indent="0">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Map of Clusters in Scarborough</a:t>
            </a:r>
            <a:endParaRPr lang="en-US" dirty="0"/>
          </a:p>
        </p:txBody>
      </p:sp>
      <p:pic>
        <p:nvPicPr>
          <p:cNvPr id="4" name="Picture 3">
            <a:extLst>
              <a:ext uri="{FF2B5EF4-FFF2-40B4-BE49-F238E27FC236}">
                <a16:creationId xmlns:a16="http://schemas.microsoft.com/office/drawing/2014/main" id="{423B2094-C819-4479-8C59-B6E0C0C91E6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171271" y="2797489"/>
            <a:ext cx="6247130" cy="3522345"/>
          </a:xfrm>
          <a:prstGeom prst="rect">
            <a:avLst/>
          </a:prstGeom>
          <a:noFill/>
        </p:spPr>
      </p:pic>
    </p:spTree>
    <p:extLst>
      <p:ext uri="{BB962C8B-B14F-4D97-AF65-F5344CB8AC3E}">
        <p14:creationId xmlns:p14="http://schemas.microsoft.com/office/powerpoint/2010/main" val="1248656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359BF-4E75-4B16-9C44-49042739E846}"/>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C74563E3-2BDF-40B5-872C-75727F91CD39}"/>
              </a:ext>
            </a:extLst>
          </p:cNvPr>
          <p:cNvSpPr>
            <a:spLocks noGrp="1"/>
          </p:cNvSpPr>
          <p:nvPr>
            <p:ph idx="1"/>
          </p:nvPr>
        </p:nvSpPr>
        <p:spPr>
          <a:xfrm>
            <a:off x="2773599" y="2052116"/>
            <a:ext cx="5498204" cy="705152"/>
          </a:xfrm>
        </p:spPr>
        <p:txBody>
          <a:bodyPr/>
          <a:lstStyle/>
          <a:p>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Average Housing Price by Clusters in Scarborough</a:t>
            </a:r>
            <a:endParaRPr lang="en-US" dirty="0"/>
          </a:p>
        </p:txBody>
      </p:sp>
      <p:pic>
        <p:nvPicPr>
          <p:cNvPr id="4" name="Picture 3">
            <a:extLst>
              <a:ext uri="{FF2B5EF4-FFF2-40B4-BE49-F238E27FC236}">
                <a16:creationId xmlns:a16="http://schemas.microsoft.com/office/drawing/2014/main" id="{24AFFFE8-47E5-471B-B07D-872F8D77812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398520" y="2757268"/>
            <a:ext cx="5760720" cy="3968115"/>
          </a:xfrm>
          <a:prstGeom prst="rect">
            <a:avLst/>
          </a:prstGeom>
          <a:noFill/>
        </p:spPr>
      </p:pic>
    </p:spTree>
    <p:extLst>
      <p:ext uri="{BB962C8B-B14F-4D97-AF65-F5344CB8AC3E}">
        <p14:creationId xmlns:p14="http://schemas.microsoft.com/office/powerpoint/2010/main" val="3955164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82659-1F70-4B53-9321-7DDBD84DD052}"/>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E9F756C0-BCE7-4BAC-AD37-8F3190F1D8FC}"/>
              </a:ext>
            </a:extLst>
          </p:cNvPr>
          <p:cNvSpPr>
            <a:spLocks noGrp="1"/>
          </p:cNvSpPr>
          <p:nvPr>
            <p:ph idx="1"/>
          </p:nvPr>
        </p:nvSpPr>
        <p:spPr>
          <a:xfrm>
            <a:off x="2773599" y="2052116"/>
            <a:ext cx="4443127" cy="550407"/>
          </a:xfrm>
        </p:spPr>
        <p:txBody>
          <a:bodyPr/>
          <a:lstStyle/>
          <a:p>
            <a:pPr marL="0" indent="0">
              <a:buNone/>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School Ratings by Clusters in Scarborough</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FA8D365E-6BE3-4DCF-A495-6676736FB1D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715375" y="2769354"/>
            <a:ext cx="5751195" cy="3410585"/>
          </a:xfrm>
          <a:prstGeom prst="rect">
            <a:avLst/>
          </a:prstGeom>
          <a:noFill/>
        </p:spPr>
      </p:pic>
    </p:spTree>
    <p:extLst>
      <p:ext uri="{BB962C8B-B14F-4D97-AF65-F5344CB8AC3E}">
        <p14:creationId xmlns:p14="http://schemas.microsoft.com/office/powerpoint/2010/main" val="2027772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190B7-87C5-4E5D-A9E7-5E37AEE02659}"/>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E40B3F73-824F-4258-A0DD-6B751D8ADEB2}"/>
              </a:ext>
            </a:extLst>
          </p:cNvPr>
          <p:cNvSpPr>
            <a:spLocks noGrp="1"/>
          </p:cNvSpPr>
          <p:nvPr>
            <p:ph idx="1"/>
          </p:nvPr>
        </p:nvSpPr>
        <p:spPr/>
        <p:txBody>
          <a:bodyPr>
            <a:normAutofit fontScale="92500"/>
          </a:bodyPr>
          <a:lstStyle/>
          <a:p>
            <a:pPr marL="0" indent="0">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Scarborough is a popular destination for new immigrants in Canada to reside. As a result, it is one of the most diverse and multicultural areas in the Greater Toronto Area. Our data clearly shows that while there are still very financially exclusive neighborhoods with great schools, there are still many solid middle class neighborhoods with both affordable housing and great schools. Additionally, these neighborhoods are still serviced by a diverse group of ethnic restaurants, shopping facilities, and public services. This allows us to make a data based inference that there are many multi-cultural neighborhoods which will welcome people from across the globe while also providing the necessities to keep the populous safe and secure. Although immigration will likely continue to be a hot topic in the future with more governments seeking to manage the influx of immigrants and refugees, the general trend of immigration into Canada seems to be sustainable and advantageous for the time being.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167214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B0033-B434-49B9-8636-427C76D5A8ED}"/>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A613C445-8CC5-4989-8F42-644D9EFD9A15}"/>
              </a:ext>
            </a:extLst>
          </p:cNvPr>
          <p:cNvSpPr>
            <a:spLocks noGrp="1"/>
          </p:cNvSpPr>
          <p:nvPr>
            <p:ph idx="1"/>
          </p:nvPr>
        </p:nvSpPr>
        <p:spPr/>
        <p:txBody>
          <a:bodyPr>
            <a:normAutofit fontScale="92500" lnSpcReduction="20000"/>
          </a:bodyPr>
          <a:lstStyle/>
          <a:p>
            <a:pPr marL="0" indent="0">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My biggest takeaway from this exercise was the overall affordability of Scarborough (compared to my home in the Washington DC metro area) and the quality of the schools. While I know many people aspire to move to my neighborhood due to our proximity/dependency on Federal money to support the major economic drivers in conjunction with similarly diverse neighborhoods, I also know that we are on par with Manhattan and Palo Alto as far as cost of living. While the real estate is still cheaper, per square foot, it isn’t by that much compared to what NYC and Silicon Valley had to offer pre-COVID. With that in mind, in addition to the current political/social challenges in the US with our current President, I would actually encourage any non-US-resident and many mid-tier US city citizens to consider moving across the border to Canada. While anecdotal knowledge may say one thing, the data is clearly telling us a very different tale. I would be very interested in running a compare and contrast study between Scarborough and the DC Metro area later to make an apples to apples comparison.</a:t>
            </a:r>
            <a:endParaRPr lang="en-US" dirty="0"/>
          </a:p>
        </p:txBody>
      </p:sp>
    </p:spTree>
    <p:extLst>
      <p:ext uri="{BB962C8B-B14F-4D97-AF65-F5344CB8AC3E}">
        <p14:creationId xmlns:p14="http://schemas.microsoft.com/office/powerpoint/2010/main" val="4063608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88A0-614B-4405-8120-85857CB2893A}"/>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20420F60-AF8B-4D1A-BC68-48F64D477642}"/>
              </a:ext>
            </a:extLst>
          </p:cNvPr>
          <p:cNvSpPr>
            <a:spLocks noGrp="1"/>
          </p:cNvSpPr>
          <p:nvPr>
            <p:ph idx="1"/>
          </p:nvPr>
        </p:nvSpPr>
        <p:spPr/>
        <p:txBody>
          <a:bodyPr/>
          <a:lstStyle/>
          <a:p>
            <a:pPr marL="0" indent="0">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 conclusion, this project presented a unique opportunity to combine the technical capabilities which I developed over the eight courses of this technical certification with many of the real-world challenges I am facing in my life as the CEO of a management consulting firm. In addition to understanding the power and flexibility of modern development languages and their ability to interact with structured and unstructured data, this project helped me understand how easy it is to leverage data driven decision making into day to day decision making.</a:t>
            </a:r>
            <a:endParaRPr lang="en-US" dirty="0"/>
          </a:p>
        </p:txBody>
      </p:sp>
    </p:spTree>
    <p:extLst>
      <p:ext uri="{BB962C8B-B14F-4D97-AF65-F5344CB8AC3E}">
        <p14:creationId xmlns:p14="http://schemas.microsoft.com/office/powerpoint/2010/main" val="38511658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{70D3DFB8-F370-4C24-B726-5940481B481C}tf16401375</Template>
  <TotalTime>26</TotalTime>
  <Words>1015</Words>
  <Application>Microsoft Office PowerPoint</Application>
  <PresentationFormat>Widescreen</PresentationFormat>
  <Paragraphs>30</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MS Shell Dlg 2</vt:lpstr>
      <vt:lpstr>Times New Roman</vt:lpstr>
      <vt:lpstr>Wingdings</vt:lpstr>
      <vt:lpstr>Wingdings 3</vt:lpstr>
      <vt:lpstr>Madison</vt:lpstr>
      <vt:lpstr>Should I move to Scarborough?</vt:lpstr>
      <vt:lpstr>Introduction</vt:lpstr>
      <vt:lpstr>Data Source</vt:lpstr>
      <vt:lpstr>Methodology</vt:lpstr>
      <vt:lpstr>Results</vt:lpstr>
      <vt:lpstr>Results</vt:lpstr>
      <vt:lpstr>Results</vt:lpstr>
      <vt:lpstr>Results</vt:lpstr>
      <vt:lpstr>Discussion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I move to Scarborough?</dc:title>
  <dc:creator>Akshat Prasad</dc:creator>
  <cp:lastModifiedBy>Akshat Prasad</cp:lastModifiedBy>
  <cp:revision>2</cp:revision>
  <dcterms:created xsi:type="dcterms:W3CDTF">2020-09-20T06:39:29Z</dcterms:created>
  <dcterms:modified xsi:type="dcterms:W3CDTF">2020-09-20T07:06:19Z</dcterms:modified>
</cp:coreProperties>
</file>